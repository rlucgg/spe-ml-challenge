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10"/>
  </p:normalViewPr>
  <p:slideViewPr>
    <p:cSldViewPr snapToGrid="0" snapToObjects="1">
      <p:cViewPr varScale="1">
        <p:scale>
          <a:sx n="184" d="100"/>
          <a:sy n="184" d="100"/>
        </p:scale>
        <p:origin x="106" y="2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Records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DDR Activities</c:v>
                </c:pt>
                <c:pt idx="1">
                  <c:v>Production</c:v>
                </c:pt>
                <c:pt idx="2">
                  <c:v>WITSML Msgs</c:v>
                </c:pt>
                <c:pt idx="3">
                  <c:v>Trajectory</c:v>
                </c:pt>
                <c:pt idx="4">
                  <c:v>MudLog</c:v>
                </c:pt>
                <c:pt idx="5">
                  <c:v>BHA Runs</c:v>
                </c:pt>
                <c:pt idx="6">
                  <c:v>Fluids</c:v>
                </c:pt>
                <c:pt idx="7">
                  <c:v>Surveys</c:v>
                </c:pt>
                <c:pt idx="8">
                  <c:v>Form. Tops</c:v>
                </c:pt>
                <c:pt idx="9">
                  <c:v>Perforations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23447</c:v>
                </c:pt>
                <c:pt idx="1">
                  <c:v>15634</c:v>
                </c:pt>
                <c:pt idx="2">
                  <c:v>11134</c:v>
                </c:pt>
                <c:pt idx="3">
                  <c:v>4217</c:v>
                </c:pt>
                <c:pt idx="4">
                  <c:v>2882</c:v>
                </c:pt>
                <c:pt idx="5">
                  <c:v>161</c:v>
                </c:pt>
                <c:pt idx="6">
                  <c:v>2271</c:v>
                </c:pt>
                <c:pt idx="7">
                  <c:v>1726</c:v>
                </c:pt>
                <c:pt idx="8">
                  <c:v>409</c:v>
                </c:pt>
                <c:pt idx="9">
                  <c:v>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6B6-4B75-89B2-4FDB3FD0AFC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77231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AI for Drilling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Intelligence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834640"/>
            <a:ext cx="22860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063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Analyzing the Equinor Volve Field Dataset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206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Rong Lu  |  March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  |  Rong Lu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Challenge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evidence-based AI agent for drilling operational intelligence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93192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71600"/>
            <a:ext cx="54864" cy="31089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Question Categories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87452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Drilling Phase Identification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Time &amp; Efficiency Analysis (NPT)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Section &amp; ROP Performance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BHA Configuration Effectiveness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Operational Issues &amp; Root Causes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Synthesis &amp; Recommendations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371600"/>
            <a:ext cx="3931920" cy="31089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371600"/>
            <a:ext cx="54864" cy="3108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Criteria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83480" y="187452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of REASONING  (most important)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BOTH data AND reports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 across answers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assumptions &amp; uncertainty</a:t>
            </a:r>
            <a:endParaRPr lang="en-US" sz="11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 &amp; reproducibility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3749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</a:rPr>
              <a:t>"Complexity alone will not be rewarded"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  |  Rong Lu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SDK  +  DuckDB  +  ChromaDB  —  No heavy frameworks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502920" cy="502920"/>
          </a:xfrm>
          <a:prstGeom prst="line">
            <a:avLst/>
          </a:prstGeom>
          <a:solidFill>
            <a:srgbClr val="F59E0B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1588770"/>
            <a:ext cx="251460" cy="2514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97280" y="1417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Question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468880" y="141732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D9488"/>
                </a:solidFill>
              </a:rPr>
              <a:t>▶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834640" y="1417320"/>
            <a:ext cx="2560320" cy="640080"/>
          </a:xfrm>
          <a:prstGeom prst="rect">
            <a:avLst/>
          </a:prstGeom>
          <a:solidFill>
            <a:srgbClr val="1B2A4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34640" y="1417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GPT-5.4 mini Agent</a:t>
            </a:r>
            <a:endParaRPr lang="en-US" sz="12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Tool calling  |  Max 10 rounds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40680" y="141732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D9488"/>
                </a:solidFill>
              </a:rPr>
              <a:t>▶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806440" y="1417320"/>
            <a:ext cx="1463040" cy="640080"/>
          </a:xfrm>
          <a:prstGeom prst="rect">
            <a:avLst/>
          </a:prstGeom>
          <a:solidFill>
            <a:srgbClr val="0D9488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806440" y="14173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12 Agent Tools</a:t>
            </a:r>
            <a:endParaRPr lang="en-US" sz="12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A7F3D0"/>
                </a:solidFill>
              </a:rPr>
              <a:t>Specialized analysis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0" y="141732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D9488"/>
                </a:solidFill>
              </a:rPr>
              <a:t>▶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635240" y="1417320"/>
            <a:ext cx="1188720" cy="640080"/>
          </a:xfrm>
          <a:prstGeom prst="rect">
            <a:avLst/>
          </a:prstGeom>
          <a:solidFill>
            <a:srgbClr val="F59E0B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635240" y="141732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Structured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Answer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11480" y="2286000"/>
            <a:ext cx="8321040" cy="24231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48640" y="2313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Agent Tools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26243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query_drilling_data</a:t>
            </a: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SQL on 12 DuckDB tables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486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search_daily_reports</a:t>
            </a: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Semantic search (ChromaDB)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48640" y="3502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get_well_overview</a:t>
            </a: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Well metadata &amp; formations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48640" y="39410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get_drilling_phases</a:t>
            </a: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Hole-size phase detection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291840" y="26243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compute_efficiency</a:t>
            </a: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NPT breakdown, ROP analysis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32918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compare_wells</a:t>
            </a: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Side-by-side + production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291840" y="3502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get_bha_configurations</a:t>
            </a: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WITSML BHA + mudlog data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291840" y="39410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identify_issues</a:t>
            </a: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Root cause + mud correlation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035040" y="26243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get_formation_context</a:t>
            </a: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Geological depth context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get_field_benchmarks</a:t>
            </a: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Cross-well rankings (5 modes)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6035040" y="3502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get_ddr_narrative</a:t>
            </a: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Guaranteed DDR text retrieval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6035040" y="39410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generate_depth_time_plot</a:t>
            </a: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Depth-vs-time visualization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  |  Rong Lu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Integration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DuckDB tables from 4 data sources  |  Ingestion: ~3 minutes  |  Zero parse errors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572768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35331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1,759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87452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DDR XML Files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76272" y="1280160"/>
            <a:ext cx="1572768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76272" y="135331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23,447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176272" y="187452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Records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95344" y="1280160"/>
            <a:ext cx="1572768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895344" y="135331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2,882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3895344" y="187452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MudLog Intervals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14416" y="1280160"/>
            <a:ext cx="1572768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14416" y="135331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11,134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5614416" y="187452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WITSML Messages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33488" y="1280160"/>
            <a:ext cx="1572768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33488" y="135331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~38K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7333488" y="187452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Docs</a:t>
            </a:r>
            <a:endParaRPr lang="en-US" sz="90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457200" y="2560320"/>
          <a:ext cx="50292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5760720" y="2560320"/>
            <a:ext cx="30175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760720" y="2560320"/>
            <a:ext cx="54864" cy="21031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1"/>
          <p:cNvSpPr/>
          <p:nvPr/>
        </p:nvSpPr>
        <p:spPr>
          <a:xfrm>
            <a:off x="5989320" y="2651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5989320" y="297180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values (-999.xx) filtered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RPM capped at 300, WOB at 500 kN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ROP outliers &gt; 200 m/hr removed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conversions: m/s→m/hr,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N→kN, rad→deg, kg/m³→sg</a:t>
            </a:r>
            <a:endParaRPr lang="en-US" sz="9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WITSML deduplication by MD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  |  Rong Lu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Evidence-First Design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cites BOTH structured data AND daily report quotes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25880"/>
            <a:ext cx="54864" cy="32004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Answer Structure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256032" cy="256032"/>
          </a:xfrm>
          <a:prstGeom prst="line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8288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178308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Answer</a:t>
            </a:r>
            <a:r>
              <a:rPr lang="en-US" sz="1000" dirty="0">
                <a:solidFill>
                  <a:srgbClr val="64748B"/>
                </a:solidFill>
              </a:rPr>
              <a:t>  Clear, concise conclusion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258568"/>
            <a:ext cx="256032" cy="256032"/>
          </a:xfrm>
          <a:prstGeom prst="line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58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51560" y="221284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Evidence from Drilling Data</a:t>
            </a:r>
            <a:r>
              <a:rPr lang="en-US" sz="1000" dirty="0">
                <a:solidFill>
                  <a:srgbClr val="64748B"/>
                </a:solidFill>
              </a:rPr>
              <a:t>  Specific measurements with units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2688336"/>
            <a:ext cx="256032" cy="256032"/>
          </a:xfrm>
          <a:prstGeom prst="line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688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51560" y="2642616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Evidence from Daily Reports</a:t>
            </a:r>
            <a:r>
              <a:rPr lang="en-US" sz="1000" dirty="0">
                <a:solidFill>
                  <a:srgbClr val="64748B"/>
                </a:solidFill>
              </a:rPr>
              <a:t>  DDR quotes with well name &amp; date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3118104"/>
            <a:ext cx="256032" cy="256032"/>
          </a:xfrm>
          <a:prstGeom prst="line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1181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51560" y="30723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Reasoning</a:t>
            </a:r>
            <a:r>
              <a:rPr lang="en-US" sz="1000" dirty="0">
                <a:solidFill>
                  <a:srgbClr val="64748B"/>
                </a:solidFill>
              </a:rPr>
              <a:t>  Numbered step-by-step chain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800" y="3547872"/>
            <a:ext cx="256032" cy="256032"/>
          </a:xfrm>
          <a:prstGeom prst="line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5478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51560" y="35021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Assumptions</a:t>
            </a:r>
            <a:r>
              <a:rPr lang="en-US" sz="1000" dirty="0">
                <a:solidFill>
                  <a:srgbClr val="64748B"/>
                </a:solidFill>
              </a:rPr>
              <a:t>  Explicitly stated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85800" y="3977640"/>
            <a:ext cx="256032" cy="256032"/>
          </a:xfrm>
          <a:prstGeom prst="line">
            <a:avLst/>
          </a:prstGeom>
          <a:solidFill>
            <a:srgbClr val="0D9488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9776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51560" y="39319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Confidence &amp; Uncertainty</a:t>
            </a:r>
            <a:r>
              <a:rPr lang="en-US" sz="1000" dirty="0">
                <a:solidFill>
                  <a:srgbClr val="64748B"/>
                </a:solidFill>
              </a:rPr>
              <a:t>  HIGH / MEDIUM / LOW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54880" y="132588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54880" y="1325880"/>
            <a:ext cx="54864" cy="32004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Text 27"/>
          <p:cNvSpPr/>
          <p:nvPr/>
        </p:nvSpPr>
        <p:spPr>
          <a:xfrm>
            <a:off x="4983480" y="1417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Evidence is Gathered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98348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WITSML mudlog</a:t>
            </a:r>
            <a:endParaRPr lang="en-US" sz="10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Actual measured ROP, WOB, RPM per depth interval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83480" y="22860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Phase detection</a:t>
            </a:r>
            <a:endParaRPr lang="en-US" sz="10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Hole-size transitions validated against DDR text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83480" y="2788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Formation context</a:t>
            </a:r>
            <a:endParaRPr lang="en-US" sz="10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ROP correlated with lithology from mudlog + formation tops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83480" y="3291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Mud-problem analysis</a:t>
            </a:r>
            <a:endParaRPr lang="en-US" sz="10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Statistical comparison of mud properties: problem vs. normal days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983480" y="3794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NPT decomposition</a:t>
            </a:r>
            <a:endParaRPr lang="en-US" sz="1050" dirty="0"/>
          </a:p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11 sub-categories from comment text analysis, not just activity codes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  |  Rong Lu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Phase Identification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"Identify the major drilling phases for well 15/9-F-11 T2"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38912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3533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3 Major Hole Sections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1719072"/>
            <a:ext cx="137160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0136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Surface 26"  </a:t>
            </a:r>
            <a:r>
              <a:rPr lang="en-US" sz="900" dirty="0">
                <a:solidFill>
                  <a:srgbClr val="64748B"/>
                </a:solidFill>
              </a:rPr>
              <a:t>Mar 24 – Apr 13  |  306–1,365m  |  ROP 41.6 m/hr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130552"/>
            <a:ext cx="2560320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212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A4A"/>
                </a:solidFill>
              </a:rPr>
              <a:t>Intermediate 17.5"  </a:t>
            </a:r>
            <a:r>
              <a:rPr lang="en-US" sz="900" dirty="0">
                <a:solidFill>
                  <a:srgbClr val="64748B"/>
                </a:solidFill>
              </a:rPr>
              <a:t>Apr 14 – Apr 28  |  1,400–2,577m  |  ROP 29.2 m/hr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2542032"/>
            <a:ext cx="36576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26243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</a:rPr>
              <a:t>Reservoir 8.5"  </a:t>
            </a:r>
            <a:r>
              <a:rPr lang="en-US" sz="900" dirty="0">
                <a:solidFill>
                  <a:srgbClr val="64748B"/>
                </a:solidFill>
              </a:rPr>
              <a:t>Apr 29 – May 9  |  2,907–4,562m  |  ROP 19.0 m/hr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0" y="1280160"/>
            <a:ext cx="37490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029200" y="1280160"/>
            <a:ext cx="54864" cy="1828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1353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Daily Reports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12080" y="1664208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DDR 2013-04-14:</a:t>
            </a:r>
            <a:r>
              <a:rPr lang="en-US" sz="900" i="1" dirty="0">
                <a:solidFill>
                  <a:srgbClr val="334155"/>
                </a:solidFill>
              </a:rPr>
              <a:t> "Drilled 17 1/2" hole from 1368m to 1400m with 3675 l/min, 188 bar, 60-140 RPM"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</a:rPr>
              <a:t>DDR 2013-04-22:</a:t>
            </a:r>
            <a:r>
              <a:rPr lang="en-US" sz="900" i="1" dirty="0">
                <a:solidFill>
                  <a:srgbClr val="334155"/>
                </a:solidFill>
              </a:rPr>
              <a:t> "Drilled 17 1/2" hole to section TD at 2574m. POOH and L/O 17 1/2" steerable BHA."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438912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34107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Tool Calls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36758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get_drilling_phases('15_9_F_11_T2')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get_ddr_narrative(well, date_from, date_to)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get_formation_context('15_9_F_11_T2')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3337560"/>
            <a:ext cx="374904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0" y="3337560"/>
            <a:ext cx="54864" cy="1188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0" y="34107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Confidence: HIGH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12080" y="37490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Hole size changes confirmed by activity codes, depth progression, and DDR summaries across 53 daily reports.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  |  Rong Lu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Cross-Well Analysis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Field-wide benchmarking across 26 wellbore sections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325880"/>
            <a:ext cx="54864" cy="1463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4173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daily_progress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709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drilled m/day ranked across wells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2331720"/>
            <a:ext cx="237744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F-11 T2 at 68.2 m/day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32588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32588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3474720" y="14173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section_performance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0" y="1709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index from WOB, torque, ROP z-scores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429000" y="2331720"/>
            <a:ext cx="237744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Hardest: F-11 B 12.25" (idx 3.07)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26480" y="132588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126480" y="1325880"/>
            <a:ext cx="54864" cy="1463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4173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gas_response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09360" y="17099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methane/ethane in formation window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63640" y="2331720"/>
            <a:ext cx="237744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2331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F-1 C: 35,013 ppm CH4 in Hugin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0175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3017520"/>
            <a:ext cx="54864" cy="14630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1089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34015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score: stuck/loss/kick mentions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94360" y="4023360"/>
            <a:ext cx="237744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023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Highest: F-15 (score 168.5)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1840" y="301752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291840" y="301752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2" name="Text 30"/>
          <p:cNvSpPr/>
          <p:nvPr/>
        </p:nvSpPr>
        <p:spPr>
          <a:xfrm>
            <a:off x="3474720" y="31089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production_summary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34015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oil/gas/water by well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429000" y="4023360"/>
            <a:ext cx="2377440" cy="32004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5" name="Text 33"/>
          <p:cNvSpPr/>
          <p:nvPr/>
        </p:nvSpPr>
        <p:spPr>
          <a:xfrm>
            <a:off x="3474720" y="4023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F-12 cum oil 4.58M Sm3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0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Trace: Transparent Reasoning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src.main ask '...' --trace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8229600" cy="329184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34440"/>
            <a:ext cx="8229600" cy="274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298448"/>
            <a:ext cx="128016" cy="128016"/>
          </a:xfrm>
          <a:prstGeom prst="line">
            <a:avLst/>
          </a:prstGeom>
          <a:solidFill>
            <a:srgbClr val="EF4444"/>
          </a:solidFill>
          <a:ln/>
        </p:spPr>
      </p:sp>
      <p:sp>
        <p:nvSpPr>
          <p:cNvPr id="7" name="Shape 5"/>
          <p:cNvSpPr/>
          <p:nvPr/>
        </p:nvSpPr>
        <p:spPr>
          <a:xfrm>
            <a:off x="841248" y="1298448"/>
            <a:ext cx="128016" cy="128016"/>
          </a:xfrm>
          <a:prstGeom prst="line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1042416" y="1298448"/>
            <a:ext cx="128016" cy="128016"/>
          </a:xfrm>
          <a:prstGeom prst="lin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600200"/>
            <a:ext cx="7772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Evidence Trace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Step 1: get_bha_configurations(well='15_9_F_11_T2')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Retrieved: 3,475 chars  |  Duration: 0.26s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Summary: 12 official BHA runs, ROP by section, lithology...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Step 2: get_ddr_narrative(well='15_9_F_11_T2', date_from='2013-04-11')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Retrieved: 7,134 chars  |  Duration: 0.02s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Summary: 16 DDR reports, 67 activities; "Drilled 17 1/2" to TD..."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tool calls: 3  |  Total evidence retrieval time: 0.29s</a:t>
            </a:r>
            <a:endParaRPr lang="en-US" sz="9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sources used: ddr_activities, ddr_status, witsml_bha_runs, witsml_mudlog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call, its arguments, result size, and timing are logged for full traceability.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188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 GCS 2026 ML Challenge  |  Rong Lu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Design Decisions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Prioritizing simplicity, transparency, and reproducibility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02336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80160"/>
            <a:ext cx="54864" cy="1508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53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SDK — direct function calling, minimal abstraction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 — in-process analytical SQL, zero configuration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— embedded vector search, cosine similarity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mini with reasoning_effort=high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54880" y="1280160"/>
            <a:ext cx="402336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280160"/>
            <a:ext cx="54864" cy="1508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353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Detection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37760" y="1664208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primary: hole sizes + activity codes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validates against DDR narratives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ambiguity with confidence scoring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and reproducible results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402336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971800"/>
            <a:ext cx="54864" cy="1508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044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Design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3355848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built for a specific question category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return structured evidence with attribution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tools covering all 6 evaluation categories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15,000 char truncation prevents context overflow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0" y="2971800"/>
            <a:ext cx="4023360" cy="15087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2971800"/>
            <a:ext cx="54864" cy="15087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3044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937760" y="3355848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automated unit tests (parsers, tools, formatting)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130-question stress test across diverse wells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validation checks all 6 required sections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filtering at ingestion and query time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 &amp; How to Run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572768" cy="7772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3327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 Tables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76272" y="1005840"/>
            <a:ext cx="1572768" cy="7772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2176272" y="103327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176272" y="141732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Tools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95344" y="1005840"/>
            <a:ext cx="1572768" cy="7772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1" name="Text 9"/>
          <p:cNvSpPr/>
          <p:nvPr/>
        </p:nvSpPr>
        <p:spPr>
          <a:xfrm>
            <a:off x="3895344" y="103327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~38K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895344" y="141732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Searchable Docs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14416" y="1005840"/>
            <a:ext cx="1572768" cy="7772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/>
          <p:nvPr/>
        </p:nvSpPr>
        <p:spPr>
          <a:xfrm>
            <a:off x="5614416" y="103327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614416" y="141732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33488" y="1005840"/>
            <a:ext cx="1572768" cy="7772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7333488" y="1033272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4B8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130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333488" y="141732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 Qs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057400"/>
            <a:ext cx="8229600" cy="22860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057400"/>
            <a:ext cx="8229600" cy="2743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07568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Start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" y="246888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src.main ingest    # ~3 minutes</a:t>
            </a:r>
            <a:endParaRPr lang="en-US" sz="1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src.main ask "your question"    # structured answer</a:t>
            </a:r>
            <a:endParaRPr lang="en-US" sz="1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src.main ask "your question" --trace    # with evidence trace</a:t>
            </a:r>
            <a:endParaRPr lang="en-US" sz="10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src.main demo --save    # all 6 demo questions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" y="4572000"/>
            <a:ext cx="182880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OPENAI_API_KEY required  |  Python 3.10+  |  Volve dataset in .googledrive/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1235</Words>
  <Application>Microsoft Office PowerPoint</Application>
  <PresentationFormat>On-screen Show (16:9)</PresentationFormat>
  <Paragraphs>195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for Drilling Operational Intelligence</dc:title>
  <dc:subject>PptxGenJS Presentation</dc:subject>
  <dc:creator>Rong Lu</dc:creator>
  <cp:lastModifiedBy>Lu, Rong</cp:lastModifiedBy>
  <cp:revision>2</cp:revision>
  <dcterms:created xsi:type="dcterms:W3CDTF">2026-03-22T18:53:12Z</dcterms:created>
  <dcterms:modified xsi:type="dcterms:W3CDTF">2026-03-22T20:22:59Z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cd3d0b-01f2-412a-8f1c-960693f64dc5_Enabled">
    <vt:lpwstr>true</vt:lpwstr>
  </property>
  <property fmtid="{D5CDD505-2E9C-101B-9397-08002B2CF9AE}" pid="3" name="MSIP_Label_5dcd3d0b-01f2-412a-8f1c-960693f64dc5_SetDate">
    <vt:lpwstr>2026-03-22T20:22:42Z</vt:lpwstr>
  </property>
  <property fmtid="{D5CDD505-2E9C-101B-9397-08002B2CF9AE}" pid="4" name="MSIP_Label_5dcd3d0b-01f2-412a-8f1c-960693f64dc5_Method">
    <vt:lpwstr>Privileged</vt:lpwstr>
  </property>
  <property fmtid="{D5CDD505-2E9C-101B-9397-08002B2CF9AE}" pid="5" name="MSIP_Label_5dcd3d0b-01f2-412a-8f1c-960693f64dc5_Name">
    <vt:lpwstr>Non-Business</vt:lpwstr>
  </property>
  <property fmtid="{D5CDD505-2E9C-101B-9397-08002B2CF9AE}" pid="6" name="MSIP_Label_5dcd3d0b-01f2-412a-8f1c-960693f64dc5_SiteId">
    <vt:lpwstr>307ea682-75e1-4701-a114-6c42f9ff0d24</vt:lpwstr>
  </property>
  <property fmtid="{D5CDD505-2E9C-101B-9397-08002B2CF9AE}" pid="7" name="MSIP_Label_5dcd3d0b-01f2-412a-8f1c-960693f64dc5_ActionId">
    <vt:lpwstr>1454c1fd-7fec-4a7a-a767-f9c3f3923c2d</vt:lpwstr>
  </property>
  <property fmtid="{D5CDD505-2E9C-101B-9397-08002B2CF9AE}" pid="8" name="MSIP_Label_5dcd3d0b-01f2-412a-8f1c-960693f64dc5_ContentBits">
    <vt:lpwstr>0</vt:lpwstr>
  </property>
  <property fmtid="{D5CDD505-2E9C-101B-9397-08002B2CF9AE}" pid="9" name="MSIP_Label_5dcd3d0b-01f2-412a-8f1c-960693f64dc5_Tag">
    <vt:lpwstr>10, 0, 1, 1</vt:lpwstr>
  </property>
</Properties>
</file>