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Agentic AI for Drilling</a:t>
            </a:r>
            <a:br/>
            <a:r>
              <a:t>Operational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CCDD"/>
                </a:solidFill>
                <a:latin typeface="Calibri"/>
              </a:defRPr>
            </a:pPr>
            <a:r>
              <a:t>SPE GCS 2026 ML Challenge</a:t>
            </a:r>
            <a:br/>
            <a:r>
              <a:t>Analyzing the Equinor Volve Field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Rong Lu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Build an evidence-based AI agent for drilling operational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Analyze the Equinor Volve Field drilling dataset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Answer 6 categories of operational questions: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1. Drilling Phase Identification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2. Time &amp; Efficiency Analysis (NPT)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3. Section &amp; ROP Performance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4. BHA Configuration Effectiveness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5. Operational Issues &amp; Root Causes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6. Synthesis &amp;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Evaluation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Quality of REASONING (most important)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Evidence from BOTH data AND reports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Consistency across answers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Clear assumptions &amp; uncertainty handling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Transparency &amp;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"Complexity alone will not be rewarded"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OpenAI SDK  +  DuckDB  +  ChromaDB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User Question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GPT-5.4 mini (tool calling, max 10 rounds)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12 Agent Tools (see right)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--&gt; Structured Answer with Evidence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Key features: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Evidence Trace mode (--trace) shows every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tool call, args, timing, and data sources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Retry with exponential backoff for API resilience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Output validation: checks all 6 required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12 Agent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query_drilling_data         </a:t>
            </a:r>
            <a:r>
              <a:rPr sz="1000">
                <a:solidFill>
                  <a:srgbClr val="666666"/>
                </a:solidFill>
              </a:rPr>
              <a:t> SQL on 12 DuckDB tables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search_daily_reports        </a:t>
            </a:r>
            <a:r>
              <a:rPr sz="1000">
                <a:solidFill>
                  <a:srgbClr val="666666"/>
                </a:solidFill>
              </a:rPr>
              <a:t> Semantic search (ChromaDB)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get_well_overview           </a:t>
            </a:r>
            <a:r>
              <a:rPr sz="1000">
                <a:solidFill>
                  <a:srgbClr val="666666"/>
                </a:solidFill>
              </a:rPr>
              <a:t> Well metadata &amp; formations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get_drilling_phases         </a:t>
            </a:r>
            <a:r>
              <a:rPr sz="1000">
                <a:solidFill>
                  <a:srgbClr val="666666"/>
                </a:solidFill>
              </a:rPr>
              <a:t> Hole-size + activity-code phases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compute_efficiency          </a:t>
            </a:r>
            <a:r>
              <a:rPr sz="1000">
                <a:solidFill>
                  <a:srgbClr val="666666"/>
                </a:solidFill>
              </a:rPr>
              <a:t> NPT sub-classification, ROP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compare_wells               </a:t>
            </a:r>
            <a:r>
              <a:rPr sz="1000">
                <a:solidFill>
                  <a:srgbClr val="666666"/>
                </a:solidFill>
              </a:rPr>
              <a:t> Side-by-side + production data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get_bha_configurations      </a:t>
            </a:r>
            <a:r>
              <a:rPr sz="1000">
                <a:solidFill>
                  <a:srgbClr val="666666"/>
                </a:solidFill>
              </a:rPr>
              <a:t> WITSML BHA + mudlog params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identify_issues             </a:t>
            </a:r>
            <a:r>
              <a:rPr sz="1000">
                <a:solidFill>
                  <a:srgbClr val="666666"/>
                </a:solidFill>
              </a:rPr>
              <a:t> Root cause + mud correlation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get_formation_context       </a:t>
            </a:r>
            <a:r>
              <a:rPr sz="1000">
                <a:solidFill>
                  <a:srgbClr val="666666"/>
                </a:solidFill>
              </a:rPr>
              <a:t> Geological depth context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get_field_benchmarks        </a:t>
            </a:r>
            <a:r>
              <a:rPr sz="1000">
                <a:solidFill>
                  <a:srgbClr val="666666"/>
                </a:solidFill>
              </a:rPr>
              <a:t> Cross-well rankings (5 modes)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get_ddr_narrative           </a:t>
            </a:r>
            <a:r>
              <a:rPr sz="1000">
                <a:solidFill>
                  <a:srgbClr val="666666"/>
                </a:solidFill>
              </a:rPr>
              <a:t> Guaranteed DDR text by date</a:t>
            </a:r>
          </a:p>
          <a:p>
            <a:pPr>
              <a:spcAft>
                <a:spcPts val="100"/>
              </a:spcAft>
              <a:defRPr sz="1100">
                <a:solidFill>
                  <a:srgbClr val="1A1A1A"/>
                </a:solidFill>
                <a:latin typeface="Consolas"/>
              </a:defRPr>
            </a:pPr>
            <a:r>
              <a:rPr b="1" sz="1100">
                <a:latin typeface="Consolas"/>
              </a:rPr>
              <a:t>generate_depth_time_plot    </a:t>
            </a:r>
            <a:r>
              <a:rPr sz="1000">
                <a:solidFill>
                  <a:srgbClr val="666666"/>
                </a:solidFill>
              </a:rPr>
              <a:t> Depth-vs-time visualization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Data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12 DuckDB tables from 4 data sources  |  Ingestion: ~3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1,759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DDR XML Files</a:t>
            </a:r>
            <a:br/>
            <a:r>
              <a:t>(zero parse errors)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23,447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Activity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2,882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MudLog Intervals</a:t>
            </a:r>
            <a:br/>
            <a:r>
              <a:t>(ROP/WOB/RPM/lithology)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11,134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WITSML Messages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1463040"/>
            <a:ext cx="2194560" cy="118872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1554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83"/>
                </a:solidFill>
                <a:latin typeface="Calibri"/>
              </a:defRPr>
            </a:pPr>
            <a:r>
              <a:t>~38K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ChromaDB Docs</a:t>
            </a:r>
            <a:br/>
            <a:r>
              <a:t>(DDR + WITSML)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0175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DDR Daily Drilling Reports (core NLP source)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23,447 activities with timestamps &amp; codes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2,271 fluid records (mud type, density, PV, YP)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1,726 directional survey stations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26,965 text documents (summaries + comments)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WITSML Real-Time Data (measured drilling parameters)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2,882 mudlog intervals: actual ROP, WOB, torque, RPM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161 official BHA runs across 14 wells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4,217 trajectory stations (MD, TVD, incl, azi, DLS)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Production Data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15,634 daily records: oil, gas, water, pressure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7 wells: F-1C, F-11, F-12, F-14, F-15D, F-4, F-5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Geological Data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409 formation tops across 26 wells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48 perforation interval records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Data Quality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Sentinel values (-999.xx) filtered at parse time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Outlier filtering: RPM&lt;=300, WOB&lt;=500kN, ROP&lt;=200 m/hr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Unit conversions: m/s-&gt;m/hr, N-&gt;kN, rad-&gt;deg, kg/m3-&gt;sg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Evidence-First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Every answer cites BOTH structured data AND daily report quotes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Mandatory Answer Structure (6 Sections)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1. Answer  (clear, concise conclusion)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2. Evidence from Drilling Data  (specific measurements)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3. Evidence from Daily Reports  (DDR quotes with dates)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4. Reasoning  (numbered step-by-step chain)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5. Assumptions  (explicitly stated)</a:t>
            </a:r>
          </a:p>
          <a:p>
            <a:pPr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6. Confidence &amp; Uncertainty  (HIGH / MEDIUM / LOW)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How Evidence is Gathered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Structured data: WITSML mudlog provides actual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measured ROP, WOB, RPM per depth interval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Drilling phases: identified by hole-size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transitions and validated against DDR text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Formation context: ROP variations correlated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with lithology from mudlog + formation tops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Mud-problem analysis: statistical comparison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of mud properties on problem vs normal days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NPT decomposition: 11 sub-categories derived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from comment text analysis (not just activity codes)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Example: Phase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Q: "Identify the major drilling phases for well 15/9-F-11 T2"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Agent Tool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1. get_drilling_phases('15_9_F_11_T2')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2. get_ddr_narrative(well, date_from, date_to)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3. get_formation_context('15_9_F_11_T2')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Answer (3 major hole sections identified)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1: Surface 26" (Mar 24 - Apr 13)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306m - 1,365m MD | avg ROP 41.6 m/hr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2: Intermediate 17.5" (Apr 14 - Apr 28)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1,400m - 2,577m MD | avg ROP 29.2 m/hr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  <a:latin typeface="Calibri"/>
              </a:defRPr>
            </a:pPr>
            <a:r>
              <a:t>Phase 3: Reservoir 8.5" (Apr 29 - May 9)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2,907m - 4,562m MD | avg ROP 19.0 m/hr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Evidence from Daily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DDR 2013-04-14: "Drilled 17 1/2" hole from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1368m to 1400m with 3675 l/min, 188 bar,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60-140 RPM, 7-15 kNm, WOB 5 Ton"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DDR 2013-04-22: "Drilled 17 1/2" hole to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section TD at 2574m. POOH and L/O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17 1/2" steerable BHA."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Confidence: HIGH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Hole size changes confirmed by activity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codes, depth progression, and DDR summaries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Cross-Well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Field-wide benchmarking across 26 wellbore 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get_field_benchmarks (5 Modes)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daily_progress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Ranks well-sections by avg drilled m/day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section_performance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Difficulty index from WOB, torque, ROP z-scores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gas_response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Peak methane/ethane in target formation window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risk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Composite score: stuck/loss/kick mentions + severity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production_summary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Cumulative oil/gas/water with normalized well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B83"/>
                </a:solidFill>
                <a:latin typeface="Calibri"/>
              </a:defRPr>
            </a:pPr>
            <a:r>
              <a:t>Example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Hardest section to drill (by difficulty index):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F-11 B 12.25" section (difficulty 3.07)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avg ROP 25.0 m/hr | WOB 112.1 kN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Highest gas response in Hugin Fm: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 C: max CH4 35,013 ppm at 3229-4004m MD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Highest risk well: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F-15: risk score 168.5 (51 severe mentions)</a:t>
            </a: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Top oil producer: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F-12: cum oil 4.58M Sm3 over 3,056 prod 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Evidence Trace: Transparent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python -m src.main ask '...' --trace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 Evidence Trace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### Step 1: get_bha_configurations(well='15_9_F_11_T2')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Retrieved: 3,475 chars | Duration: 0.26s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Summary: 12 official BHA runs, ROP by section, lithology...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### Step 2: get_ddr_narrative(well='15_9_F_11_T2', date_from='2013-04-11', date_to='2013-04-26')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Retrieved: 7,134 chars | Duration: 0.02s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Summary: 16 DDR reports, 67 activities; "Drilled 17 1/2" hole to section TD..."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Total tool calls: 3 | Total evidence retrieval time: 0.29s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Data sources used: ddr_activities, ddr_status, witsml_bha_runs, witsml_mudlog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B83"/>
                </a:solidFill>
                <a:latin typeface="Calibri"/>
              </a:defRPr>
            </a:pPr>
            <a:r>
              <a:t>Each tool call, its arguments, result size, and execution time are logged for full traceability.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2B4E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Prioritizing simplicity, transparency, and reproducibility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Technology Choices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OpenAI SDK: direct function calling, minimal abstraction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DuckDB: in-process analytical SQL, zero configuration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ChromaDB: embedded vector search, cosine similarity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GPT-5.4 mini: reasoning_effort=high for domain questions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Phase Detection Approach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Rule-based: hole sizes + activity codes (deterministic)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LLM: validates against DDR narratives, handles ambiguity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Confidence: assessed per answer (HIGH / MEDIUM / LOW)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Tool Design Philosophy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Each tool built for a specific question category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Tools return structured evidence with source attribution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12 tools covering all 6 evaluation categories</a:t>
            </a: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1A"/>
                </a:solidFill>
                <a:latin typeface="Calibri"/>
              </a:defRPr>
            </a:pPr>
            <a:r>
              <a:t>Quality Assurance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95 automated unit tests (parsers, tools, formatting)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130-question stress test across diverse wells &amp; categories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Output validation checks all 6 required answer sections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Data quality filtering at ingestion and query time</a:t>
            </a:r>
          </a:p>
          <a:p>
            <a:pPr lvl="1">
              <a:spcAft>
                <a:spcPts val="4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Sentinel value handling, outlier removal, unit conversions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Summary &amp; 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System at a Glance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12 DuckDB tables from 4 data sources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12 agent tools covering all 6 question categories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36,709 searchable documents in ChromaDB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95 unit tests + 130-question stress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Answer Format (every response)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Structured data evidence with measurements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Direct DDR quotes with well name and date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Step-by-step reasoning chain</a:t>
            </a:r>
          </a:p>
          <a:p>
            <a:pPr lvl="1">
              <a:spcAft>
                <a:spcPts val="400"/>
              </a:spcAft>
              <a:defRPr sz="1300">
                <a:solidFill>
                  <a:srgbClr val="99BBDD"/>
                </a:solidFill>
                <a:latin typeface="Calibri"/>
              </a:defRPr>
            </a:pPr>
            <a:r>
              <a:t>Explicit assumptions and confidence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Quick Start (3 commands)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DDBB"/>
                </a:solidFill>
                <a:latin typeface="Calibri"/>
              </a:defRPr>
            </a:pPr>
            <a:r>
              <a:t>pip install -r requirements.txt</a:t>
            </a:r>
          </a:p>
          <a:p>
            <a:pPr>
              <a:spcAft>
                <a:spcPts val="400"/>
              </a:spcAft>
              <a:defRPr sz="1500">
                <a:solidFill>
                  <a:srgbClr val="BBDDBB"/>
                </a:solidFill>
                <a:latin typeface="Calibri"/>
              </a:defRPr>
            </a:pPr>
            <a:r>
              <a:t>python -m src.main ingest                         # ~3 minutes</a:t>
            </a:r>
          </a:p>
          <a:p>
            <a:pPr>
              <a:spcAft>
                <a:spcPts val="400"/>
              </a:spcAft>
              <a:defRPr sz="1500">
                <a:solidFill>
                  <a:srgbClr val="BBDDBB"/>
                </a:solidFill>
                <a:latin typeface="Calibri"/>
              </a:defRPr>
            </a:pPr>
            <a:r>
              <a:t>python -m src.main ask "your question"            # structured answer</a:t>
            </a:r>
          </a:p>
          <a:p>
            <a:pPr>
              <a:spcAft>
                <a:spcPts val="400"/>
              </a:spcAft>
              <a:defRPr sz="1500">
                <a:solidFill>
                  <a:srgbClr val="BBDDBB"/>
                </a:solidFill>
                <a:latin typeface="Calibri"/>
              </a:defRPr>
            </a:pPr>
            <a:r>
              <a:t>python -m src.main ask "your question" --trace    # with evidence trace</a:t>
            </a:r>
          </a:p>
          <a:p>
            <a:pPr>
              <a:spcAft>
                <a:spcPts val="400"/>
              </a:spcAft>
              <a:defRPr sz="1500">
                <a:solidFill>
                  <a:srgbClr val="BBDDBB"/>
                </a:solidFill>
                <a:latin typeface="Calibri"/>
              </a:defRPr>
            </a:pPr>
            <a:r>
              <a:t>python -m src.main demo --save                    # all 6 demo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OPENAI_API_KEY required  |  Python 3.10+  |  Volve dataset in .googledrive/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